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66" r:id="rId5"/>
    <p:sldId id="269" r:id="rId6"/>
    <p:sldId id="259" r:id="rId7"/>
    <p:sldId id="267" r:id="rId8"/>
    <p:sldId id="270" r:id="rId9"/>
    <p:sldId id="260" r:id="rId10"/>
    <p:sldId id="268" r:id="rId11"/>
    <p:sldId id="273" r:id="rId12"/>
    <p:sldId id="271" r:id="rId13"/>
    <p:sldId id="262" r:id="rId14"/>
    <p:sldId id="263" r:id="rId15"/>
    <p:sldId id="265" r:id="rId16"/>
    <p:sldId id="264" r:id="rId17"/>
    <p:sldId id="272"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142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deep Kabirdas" userId="0c71909077341ce1" providerId="LiveId" clId="{48158361-7F60-4A66-8558-D0ABF143C912}"/>
    <pc:docChg chg="custSel modSld">
      <pc:chgData name="Pradeep Kabirdas" userId="0c71909077341ce1" providerId="LiveId" clId="{48158361-7F60-4A66-8558-D0ABF143C912}" dt="2025-12-14T17:55:14.023" v="17" actId="1076"/>
      <pc:docMkLst>
        <pc:docMk/>
      </pc:docMkLst>
      <pc:sldChg chg="modSp mod">
        <pc:chgData name="Pradeep Kabirdas" userId="0c71909077341ce1" providerId="LiveId" clId="{48158361-7F60-4A66-8558-D0ABF143C912}" dt="2025-12-14T17:55:14.023" v="17" actId="1076"/>
        <pc:sldMkLst>
          <pc:docMk/>
          <pc:sldMk cId="0" sldId="258"/>
        </pc:sldMkLst>
        <pc:spChg chg="mod">
          <ac:chgData name="Pradeep Kabirdas" userId="0c71909077341ce1" providerId="LiveId" clId="{48158361-7F60-4A66-8558-D0ABF143C912}" dt="2025-12-14T17:55:14.023" v="17" actId="1076"/>
          <ac:spMkLst>
            <pc:docMk/>
            <pc:sldMk cId="0" sldId="258"/>
            <ac:spMk id="3" creationId="{00000000-0000-0000-0000-000000000000}"/>
          </ac:spMkLst>
        </pc:spChg>
      </pc:sldChg>
      <pc:sldChg chg="modSp mod">
        <pc:chgData name="Pradeep Kabirdas" userId="0c71909077341ce1" providerId="LiveId" clId="{48158361-7F60-4A66-8558-D0ABF143C912}" dt="2025-12-14T17:55:00.360" v="14" actId="27636"/>
        <pc:sldMkLst>
          <pc:docMk/>
          <pc:sldMk cId="0" sldId="259"/>
        </pc:sldMkLst>
        <pc:spChg chg="mod">
          <ac:chgData name="Pradeep Kabirdas" userId="0c71909077341ce1" providerId="LiveId" clId="{48158361-7F60-4A66-8558-D0ABF143C912}" dt="2025-12-14T17:55:00.360" v="14" actId="27636"/>
          <ac:spMkLst>
            <pc:docMk/>
            <pc:sldMk cId="0" sldId="259"/>
            <ac:spMk id="3" creationId="{00000000-0000-0000-0000-000000000000}"/>
          </ac:spMkLst>
        </pc:spChg>
      </pc:sldChg>
      <pc:sldChg chg="modSp mod">
        <pc:chgData name="Pradeep Kabirdas" userId="0c71909077341ce1" providerId="LiveId" clId="{48158361-7F60-4A66-8558-D0ABF143C912}" dt="2025-12-14T17:54:48.307" v="12" actId="1076"/>
        <pc:sldMkLst>
          <pc:docMk/>
          <pc:sldMk cId="0" sldId="260"/>
        </pc:sldMkLst>
        <pc:spChg chg="mod">
          <ac:chgData name="Pradeep Kabirdas" userId="0c71909077341ce1" providerId="LiveId" clId="{48158361-7F60-4A66-8558-D0ABF143C912}" dt="2025-12-14T17:54:44.383" v="11" actId="1076"/>
          <ac:spMkLst>
            <pc:docMk/>
            <pc:sldMk cId="0" sldId="260"/>
            <ac:spMk id="2" creationId="{00000000-0000-0000-0000-000000000000}"/>
          </ac:spMkLst>
        </pc:spChg>
        <pc:spChg chg="mod">
          <ac:chgData name="Pradeep Kabirdas" userId="0c71909077341ce1" providerId="LiveId" clId="{48158361-7F60-4A66-8558-D0ABF143C912}" dt="2025-12-14T17:54:48.307" v="12" actId="1076"/>
          <ac:spMkLst>
            <pc:docMk/>
            <pc:sldMk cId="0" sldId="260"/>
            <ac:spMk id="3" creationId="{00000000-0000-0000-0000-000000000000}"/>
          </ac:spMkLst>
        </pc:spChg>
      </pc:sldChg>
      <pc:sldChg chg="modSp mod">
        <pc:chgData name="Pradeep Kabirdas" userId="0c71909077341ce1" providerId="LiveId" clId="{48158361-7F60-4A66-8558-D0ABF143C912}" dt="2025-12-14T17:54:25.701" v="8" actId="123"/>
        <pc:sldMkLst>
          <pc:docMk/>
          <pc:sldMk cId="0" sldId="262"/>
        </pc:sldMkLst>
        <pc:spChg chg="mod">
          <ac:chgData name="Pradeep Kabirdas" userId="0c71909077341ce1" providerId="LiveId" clId="{48158361-7F60-4A66-8558-D0ABF143C912}" dt="2025-12-14T17:54:25.701" v="8" actId="123"/>
          <ac:spMkLst>
            <pc:docMk/>
            <pc:sldMk cId="0" sldId="262"/>
            <ac:spMk id="3" creationId="{00000000-0000-0000-0000-000000000000}"/>
          </ac:spMkLst>
        </pc:spChg>
      </pc:sldChg>
      <pc:sldChg chg="modSp mod">
        <pc:chgData name="Pradeep Kabirdas" userId="0c71909077341ce1" providerId="LiveId" clId="{48158361-7F60-4A66-8558-D0ABF143C912}" dt="2025-12-14T17:53:56.910" v="4" actId="14100"/>
        <pc:sldMkLst>
          <pc:docMk/>
          <pc:sldMk cId="0" sldId="263"/>
        </pc:sldMkLst>
        <pc:spChg chg="mod">
          <ac:chgData name="Pradeep Kabirdas" userId="0c71909077341ce1" providerId="LiveId" clId="{48158361-7F60-4A66-8558-D0ABF143C912}" dt="2025-12-14T17:53:56.910" v="4" actId="14100"/>
          <ac:spMkLst>
            <pc:docMk/>
            <pc:sldMk cId="0" sldId="263"/>
            <ac:spMk id="3" creationId="{00000000-0000-0000-0000-000000000000}"/>
          </ac:spMkLst>
        </pc:spChg>
      </pc:sldChg>
      <pc:sldChg chg="modSp mod">
        <pc:chgData name="Pradeep Kabirdas" userId="0c71909077341ce1" providerId="LiveId" clId="{48158361-7F60-4A66-8558-D0ABF143C912}" dt="2025-12-14T17:54:05.433" v="5" actId="14100"/>
        <pc:sldMkLst>
          <pc:docMk/>
          <pc:sldMk cId="0" sldId="264"/>
        </pc:sldMkLst>
        <pc:spChg chg="mod">
          <ac:chgData name="Pradeep Kabirdas" userId="0c71909077341ce1" providerId="LiveId" clId="{48158361-7F60-4A66-8558-D0ABF143C912}" dt="2025-12-14T17:54:05.433" v="5" actId="14100"/>
          <ac:spMkLst>
            <pc:docMk/>
            <pc:sldMk cId="0" sldId="264"/>
            <ac:spMk id="3" creationId="{00000000-0000-0000-0000-000000000000}"/>
          </ac:spMkLst>
        </pc:spChg>
      </pc:sldChg>
      <pc:sldChg chg="modSp mod">
        <pc:chgData name="Pradeep Kabirdas" userId="0c71909077341ce1" providerId="LiveId" clId="{48158361-7F60-4A66-8558-D0ABF143C912}" dt="2025-12-14T17:53:50.816" v="3" actId="14100"/>
        <pc:sldMkLst>
          <pc:docMk/>
          <pc:sldMk cId="0" sldId="265"/>
        </pc:sldMkLst>
        <pc:spChg chg="mod">
          <ac:chgData name="Pradeep Kabirdas" userId="0c71909077341ce1" providerId="LiveId" clId="{48158361-7F60-4A66-8558-D0ABF143C912}" dt="2025-12-14T17:53:50.816" v="3" actId="14100"/>
          <ac:spMkLst>
            <pc:docMk/>
            <pc:sldMk cId="0" sldId="265"/>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067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191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86549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2607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82173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9528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0565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135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825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6203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500611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433928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3876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4424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8900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8410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2527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BCAD085-E8A6-8845-BD4E-CB4CCA059FC4}" type="datetimeFigureOut">
              <a:rPr lang="en-US" smtClean="0"/>
              <a:t>12/14/2025</a:t>
            </a:fld>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92952128"/>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gif"/><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31987" y="1600199"/>
            <a:ext cx="7080026" cy="1828801"/>
          </a:xfrm>
        </p:spPr>
        <p:txBody>
          <a:bodyPr>
            <a:normAutofit fontScale="90000"/>
          </a:bodyPr>
          <a:lstStyle/>
          <a:p>
            <a:r>
              <a:rPr u="sng" dirty="0"/>
              <a:t>Task 4:</a:t>
            </a:r>
            <a:r>
              <a:rPr lang="en-IN" u="sng" dirty="0"/>
              <a:t>-</a:t>
            </a:r>
            <a:r>
              <a:rPr u="sng" dirty="0"/>
              <a:t> Data Storytelling &amp; Statistical Validation</a:t>
            </a:r>
          </a:p>
        </p:txBody>
      </p:sp>
      <p:sp>
        <p:nvSpPr>
          <p:cNvPr id="3" name="Subtitle 2"/>
          <p:cNvSpPr>
            <a:spLocks noGrp="1"/>
          </p:cNvSpPr>
          <p:nvPr>
            <p:ph type="subTitle" idx="1"/>
          </p:nvPr>
        </p:nvSpPr>
        <p:spPr>
          <a:xfrm>
            <a:off x="1031987" y="3943627"/>
            <a:ext cx="7080026" cy="1115392"/>
          </a:xfrm>
          <a:solidFill>
            <a:schemeClr val="bg2">
              <a:lumMod val="90000"/>
              <a:lumOff val="10000"/>
            </a:schemeClr>
          </a:solidFill>
          <a:ln>
            <a:solidFill>
              <a:schemeClr val="bg2">
                <a:lumMod val="50000"/>
                <a:lumOff val="50000"/>
              </a:schemeClr>
            </a:solidFill>
          </a:ln>
        </p:spPr>
        <p:txBody>
          <a:bodyPr/>
          <a:lstStyle/>
          <a:p>
            <a:r>
              <a:rPr lang="en-US" i="1" dirty="0"/>
              <a:t>This presentation consolidates the outcomes of the first three tasks into a single business narrative and validates key insights using statistical reasoning.</a:t>
            </a:r>
          </a:p>
        </p:txBody>
      </p:sp>
      <p:sp>
        <p:nvSpPr>
          <p:cNvPr id="4" name="Oval 3">
            <a:extLst>
              <a:ext uri="{FF2B5EF4-FFF2-40B4-BE49-F238E27FC236}">
                <a16:creationId xmlns:a16="http://schemas.microsoft.com/office/drawing/2014/main" id="{C37915A8-1005-B97C-3A43-77AD0830F7DC}"/>
              </a:ext>
            </a:extLst>
          </p:cNvPr>
          <p:cNvSpPr/>
          <p:nvPr/>
        </p:nvSpPr>
        <p:spPr>
          <a:xfrm>
            <a:off x="412672" y="297122"/>
            <a:ext cx="1764792" cy="967391"/>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3CC46792-EAA3-AFC8-C739-B0CF83147DE4}"/>
              </a:ext>
            </a:extLst>
          </p:cNvPr>
          <p:cNvSpPr txBox="1"/>
          <p:nvPr/>
        </p:nvSpPr>
        <p:spPr>
          <a:xfrm>
            <a:off x="725556" y="596151"/>
            <a:ext cx="1353312" cy="369332"/>
          </a:xfrm>
          <a:prstGeom prst="rect">
            <a:avLst/>
          </a:prstGeom>
          <a:noFill/>
        </p:spPr>
        <p:txBody>
          <a:bodyPr wrap="square" rtlCol="0">
            <a:spAutoFit/>
          </a:bodyPr>
          <a:lstStyle/>
          <a:p>
            <a:r>
              <a:rPr lang="en-IN" i="1" dirty="0" err="1"/>
              <a:t>ApexPlanet</a:t>
            </a:r>
            <a:endParaRPr lang="en-IN"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r>
              <a:rPr dirty="0"/>
              <a:t>Business Objective</a:t>
            </a:r>
          </a:p>
        </p:txBody>
      </p:sp>
      <p:sp>
        <p:nvSpPr>
          <p:cNvPr id="3" name="Content Placeholder 2"/>
          <p:cNvSpPr>
            <a:spLocks noGrp="1"/>
          </p:cNvSpPr>
          <p:nvPr>
            <p:ph idx="1"/>
          </p:nvPr>
        </p:nvSpPr>
        <p:spPr>
          <a:xfrm>
            <a:off x="585955" y="1951111"/>
            <a:ext cx="8041210" cy="4058751"/>
          </a:xfrm>
        </p:spPr>
        <p:txBody>
          <a:bodyPr/>
          <a:lstStyle/>
          <a:p>
            <a:pPr algn="just"/>
            <a:r>
              <a:rPr lang="en-US" dirty="0"/>
              <a:t>To understand customer data quality and structure.</a:t>
            </a:r>
          </a:p>
          <a:p>
            <a:pPr algn="just"/>
            <a:r>
              <a:rPr lang="en-US" dirty="0"/>
              <a:t>To analyze sales performance and revenue behavior.</a:t>
            </a:r>
          </a:p>
          <a:p>
            <a:pPr algn="just"/>
            <a:r>
              <a:rPr lang="en-US" dirty="0"/>
              <a:t>To evaluate customer conversion, churn, and segmentation.</a:t>
            </a:r>
          </a:p>
          <a:p>
            <a:pPr algn="just"/>
            <a:r>
              <a:rPr lang="en-US" dirty="0"/>
              <a:t>To validate whether observed trends are statistically meaningful.</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normAutofit fontScale="90000"/>
          </a:bodyPr>
          <a:lstStyle/>
          <a:p>
            <a:r>
              <a:rPr dirty="0"/>
              <a:t>Task 1: Data Understanding &amp; Cleaning</a:t>
            </a:r>
          </a:p>
        </p:txBody>
      </p:sp>
      <p:sp>
        <p:nvSpPr>
          <p:cNvPr id="3" name="Content Placeholder 2"/>
          <p:cNvSpPr>
            <a:spLocks noGrp="1"/>
          </p:cNvSpPr>
          <p:nvPr>
            <p:ph idx="1"/>
          </p:nvPr>
        </p:nvSpPr>
        <p:spPr>
          <a:xfrm>
            <a:off x="273099" y="1784791"/>
            <a:ext cx="8582666" cy="5073209"/>
          </a:xfrm>
        </p:spPr>
        <p:txBody>
          <a:bodyPr>
            <a:normAutofit fontScale="85000" lnSpcReduction="10000"/>
          </a:bodyPr>
          <a:lstStyle/>
          <a:p>
            <a:pPr algn="just"/>
            <a:r>
              <a:rPr lang="en-US" dirty="0"/>
              <a:t>This focuses on understanding and validating the customer dataset to ensure that all subsequent analysis was built on reliable data. </a:t>
            </a:r>
          </a:p>
          <a:p>
            <a:pPr algn="just"/>
            <a:r>
              <a:rPr lang="en-US" dirty="0"/>
              <a:t>The dataset contained core customer attributes such as customer ID, name, date of birth, and email address, which together form the foundation for customer-level analysis. </a:t>
            </a:r>
          </a:p>
          <a:p>
            <a:pPr algn="just"/>
            <a:r>
              <a:rPr lang="en-US" dirty="0"/>
              <a:t>Initial inspection confirmed that customer IDs were unique and consistently structured, ensuring that each record represented a distinct individual. This step was critical because duplicate or inconsistent identifiers would have distorted downstream insights related to sales, funnel behavior, and customer segmentation.</a:t>
            </a:r>
          </a:p>
          <a:p>
            <a:pPr algn="just"/>
            <a:r>
              <a:rPr lang="en-US" dirty="0"/>
              <a:t>During the data quality checks, a small number of missing values were identified, most notably a missing date of birth for one customer. This did not affect revenue or funnel analysis directly. </a:t>
            </a:r>
          </a:p>
          <a:p>
            <a:pPr algn="just"/>
            <a:r>
              <a:rPr lang="en-US" dirty="0"/>
              <a:t> It highlighted a potential limitation for age-based segmentation or personalization at scale. Apart from this, the dataset showed strong consistency in formatting and completeness.</a:t>
            </a:r>
          </a:p>
          <a:p>
            <a:pPr algn="just"/>
            <a:r>
              <a:rPr lang="en-US" dirty="0"/>
              <a:t> The dataset was validated as clean, trustworthy, and suitable for exploratory and advanced analytics, ensuring that insights derived in later tasks reflected real customer behavior rather than data inconsistencies.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031B6-8E4B-1947-2CAC-F11BAAEC8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0B2FF4-EAD0-C481-4C47-50940467781E}"/>
              </a:ext>
            </a:extLst>
          </p:cNvPr>
          <p:cNvSpPr>
            <a:spLocks noGrp="1"/>
          </p:cNvSpPr>
          <p:nvPr>
            <p:ph type="title"/>
          </p:nvPr>
        </p:nvSpPr>
        <p:spPr>
          <a:xfrm>
            <a:off x="785774" y="124375"/>
            <a:ext cx="7581974" cy="970450"/>
          </a:xfrm>
          <a:ln>
            <a:solidFill>
              <a:schemeClr val="tx1"/>
            </a:solidFill>
          </a:ln>
        </p:spPr>
        <p:txBody>
          <a:bodyPr>
            <a:normAutofit fontScale="90000"/>
          </a:bodyPr>
          <a:lstStyle/>
          <a:p>
            <a:r>
              <a:rPr dirty="0"/>
              <a:t>Task 1: Data Understanding &amp; Cleaning</a:t>
            </a:r>
            <a:r>
              <a:rPr lang="en-IN" dirty="0"/>
              <a:t> </a:t>
            </a:r>
            <a:endParaRPr dirty="0"/>
          </a:p>
        </p:txBody>
      </p:sp>
      <p:pic>
        <p:nvPicPr>
          <p:cNvPr id="7" name="Content Placeholder 6">
            <a:extLst>
              <a:ext uri="{FF2B5EF4-FFF2-40B4-BE49-F238E27FC236}">
                <a16:creationId xmlns:a16="http://schemas.microsoft.com/office/drawing/2014/main" id="{BA5618CA-FDAF-FB4E-C1D5-838C13848786}"/>
              </a:ext>
            </a:extLst>
          </p:cNvPr>
          <p:cNvPicPr>
            <a:picLocks noGrp="1" noChangeAspect="1"/>
          </p:cNvPicPr>
          <p:nvPr>
            <p:ph idx="1"/>
          </p:nvPr>
        </p:nvPicPr>
        <p:blipFill>
          <a:blip r:embed="rId2"/>
          <a:srcRect l="4104" t="6444" b="14271"/>
          <a:stretch>
            <a:fillRect/>
          </a:stretch>
        </p:blipFill>
        <p:spPr>
          <a:xfrm>
            <a:off x="785775" y="1233651"/>
            <a:ext cx="7551376" cy="1549306"/>
          </a:xfrm>
        </p:spPr>
      </p:pic>
      <p:pic>
        <p:nvPicPr>
          <p:cNvPr id="4" name="Picture 3">
            <a:extLst>
              <a:ext uri="{FF2B5EF4-FFF2-40B4-BE49-F238E27FC236}">
                <a16:creationId xmlns:a16="http://schemas.microsoft.com/office/drawing/2014/main" id="{77FCDA9C-5202-8ED2-3026-8725DBE59532}"/>
              </a:ext>
            </a:extLst>
          </p:cNvPr>
          <p:cNvPicPr>
            <a:picLocks noChangeAspect="1"/>
          </p:cNvPicPr>
          <p:nvPr/>
        </p:nvPicPr>
        <p:blipFill>
          <a:blip r:embed="rId3"/>
          <a:stretch>
            <a:fillRect/>
          </a:stretch>
        </p:blipFill>
        <p:spPr>
          <a:xfrm>
            <a:off x="4567237" y="3424237"/>
            <a:ext cx="9525" cy="9525"/>
          </a:xfrm>
          <a:prstGeom prst="rect">
            <a:avLst/>
          </a:prstGeom>
        </p:spPr>
      </p:pic>
      <p:pic>
        <p:nvPicPr>
          <p:cNvPr id="9" name="Picture 8">
            <a:extLst>
              <a:ext uri="{FF2B5EF4-FFF2-40B4-BE49-F238E27FC236}">
                <a16:creationId xmlns:a16="http://schemas.microsoft.com/office/drawing/2014/main" id="{C73FCC97-AEFA-CB70-34C7-4F55F478D05B}"/>
              </a:ext>
            </a:extLst>
          </p:cNvPr>
          <p:cNvPicPr>
            <a:picLocks noChangeAspect="1"/>
          </p:cNvPicPr>
          <p:nvPr/>
        </p:nvPicPr>
        <p:blipFill>
          <a:blip r:embed="rId4"/>
          <a:srcRect t="3263" b="3938"/>
          <a:stretch>
            <a:fillRect/>
          </a:stretch>
        </p:blipFill>
        <p:spPr>
          <a:xfrm>
            <a:off x="785775" y="2921783"/>
            <a:ext cx="7581973" cy="3761292"/>
          </a:xfrm>
          <a:prstGeom prst="rect">
            <a:avLst/>
          </a:prstGeom>
        </p:spPr>
      </p:pic>
    </p:spTree>
    <p:extLst>
      <p:ext uri="{BB962C8B-B14F-4D97-AF65-F5344CB8AC3E}">
        <p14:creationId xmlns:p14="http://schemas.microsoft.com/office/powerpoint/2010/main" val="1088322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8527A-7F78-780B-A57C-CA17CD6A4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F5752-BDC8-5BD2-CD9D-E62A43038526}"/>
              </a:ext>
            </a:extLst>
          </p:cNvPr>
          <p:cNvSpPr>
            <a:spLocks noGrp="1"/>
          </p:cNvSpPr>
          <p:nvPr>
            <p:ph type="title"/>
          </p:nvPr>
        </p:nvSpPr>
        <p:spPr>
          <a:ln>
            <a:solidFill>
              <a:schemeClr val="tx1"/>
            </a:solidFill>
          </a:ln>
        </p:spPr>
        <p:txBody>
          <a:bodyPr>
            <a:normAutofit fontScale="90000"/>
          </a:bodyPr>
          <a:lstStyle/>
          <a:p>
            <a:r>
              <a:rPr lang="en-US" dirty="0"/>
              <a:t>Task 1 — Hypothesis &amp; Validation (Data Quality)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4B157D-46CD-AB0D-572D-C6DDF2BAF344}"/>
                  </a:ext>
                </a:extLst>
              </p:cNvPr>
              <p:cNvSpPr>
                <a:spLocks noGrp="1"/>
              </p:cNvSpPr>
              <p:nvPr>
                <p:ph idx="1"/>
              </p:nvPr>
            </p:nvSpPr>
            <p:spPr>
              <a:xfrm>
                <a:off x="273099" y="1894519"/>
                <a:ext cx="8582666" cy="4588837"/>
              </a:xfrm>
            </p:spPr>
            <p:txBody>
              <a:bodyPr>
                <a:normAutofit fontScale="92500" lnSpcReduction="10000"/>
              </a:bodyPr>
              <a:lstStyle/>
              <a:p>
                <a:r>
                  <a:rPr lang="en-IN" b="1" dirty="0"/>
                  <a:t>Hypothesis (H₀):</a:t>
                </a:r>
                <a:br>
                  <a:rPr lang="en-IN" dirty="0"/>
                </a:br>
                <a:r>
                  <a:rPr lang="en-IN" dirty="0"/>
                  <a:t>The customer dataset contains significant data quality issues that may impact analysis accuracy.</a:t>
                </a:r>
              </a:p>
              <a:p>
                <a:r>
                  <a:rPr lang="en-IN" b="1" dirty="0"/>
                  <a:t>Alternative Hypothesis (H₁):</a:t>
                </a:r>
                <a:br>
                  <a:rPr lang="en-IN" dirty="0"/>
                </a:br>
                <a:r>
                  <a:rPr lang="en-IN" dirty="0"/>
                  <a:t>The customer dataset is largely clean and suitable for analysis.</a:t>
                </a:r>
              </a:p>
              <a:p>
                <a:r>
                  <a:rPr lang="en-IN" b="1" dirty="0"/>
                  <a:t>Validation (Calculation-based reasoning):</a:t>
                </a:r>
                <a:br>
                  <a:rPr lang="en-IN" dirty="0"/>
                </a:br>
                <a:r>
                  <a:rPr lang="en-IN" dirty="0"/>
                  <a:t>Out of 5 customer records, only 1 record had a missing DOB.</a:t>
                </a:r>
              </a:p>
              <a:p>
                <a14:m>
                  <m:oMath xmlns:m="http://schemas.openxmlformats.org/officeDocument/2006/math">
                    <m:r>
                      <m:rPr>
                        <m:nor/>
                      </m:rPr>
                      <a:rPr lang="en-IN" b="0"/>
                      <m:t>Missing</m:t>
                    </m:r>
                    <m:r>
                      <m:rPr>
                        <m:nor/>
                      </m:rPr>
                      <a:rPr lang="en-IN" b="0" i="1"/>
                      <m:t> </m:t>
                    </m:r>
                    <m:r>
                      <m:rPr>
                        <m:nor/>
                      </m:rPr>
                      <a:rPr lang="en-IN" b="0" i="1"/>
                      <m:t>Data</m:t>
                    </m:r>
                    <m:r>
                      <m:rPr>
                        <m:nor/>
                      </m:rPr>
                      <a:rPr lang="en-IN" b="0" i="1"/>
                      <m:t> </m:t>
                    </m:r>
                    <m:r>
                      <m:rPr>
                        <m:nor/>
                      </m:rPr>
                      <a:rPr lang="en-IN" b="0" i="1"/>
                      <m:t>Percentage</m:t>
                    </m:r>
                    <m:r>
                      <a:rPr lang="en-IN">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5</m:t>
                        </m:r>
                      </m:den>
                    </m:f>
                    <m:r>
                      <a:rPr lang="ar-AE">
                        <a:latin typeface="Cambria Math" panose="02040503050406030204" pitchFamily="18" charset="0"/>
                      </a:rPr>
                      <m:t>×</m:t>
                    </m:r>
                    <m:r>
                      <a:rPr lang="ar-AE">
                        <a:latin typeface="Cambria Math" panose="02040503050406030204" pitchFamily="18" charset="0"/>
                      </a:rPr>
                      <m:t>100</m:t>
                    </m:r>
                    <m:r>
                      <a:rPr lang="ar-AE">
                        <a:latin typeface="Cambria Math" panose="02040503050406030204" pitchFamily="18" charset="0"/>
                      </a:rPr>
                      <m:t>=</m:t>
                    </m:r>
                    <m:r>
                      <a:rPr lang="ar-AE">
                        <a:latin typeface="Cambria Math" panose="02040503050406030204" pitchFamily="18" charset="0"/>
                      </a:rPr>
                      <m:t>20</m:t>
                    </m:r>
                    <m:r>
                      <a:rPr lang="ar-AE">
                        <a:latin typeface="Cambria Math" panose="02040503050406030204" pitchFamily="18" charset="0"/>
                      </a:rPr>
                      <m:t>%</m:t>
                    </m:r>
                  </m:oMath>
                </a14:m>
                <a:endParaRPr lang="ar-AE" b="0" dirty="0"/>
              </a:p>
              <a:p>
                <a:r>
                  <a:rPr lang="en-IN" dirty="0"/>
                  <a:t>Since 80% of the records are complete and no duplicate IDs or invalid formats were detected, the dataset quality is acceptable for analysis.</a:t>
                </a:r>
              </a:p>
              <a:p>
                <a:r>
                  <a:rPr lang="en-IN" b="1" dirty="0"/>
                  <a:t>Conclusion:</a:t>
                </a:r>
                <a:br>
                  <a:rPr lang="en-IN" dirty="0"/>
                </a:br>
                <a:r>
                  <a:rPr lang="en-IN" dirty="0"/>
                  <a:t>The null hypothesis is rejected. The dataset is sufficiently clean and reliable for business analytics.</a:t>
                </a:r>
              </a:p>
              <a:p>
                <a:pPr algn="just"/>
                <a:endParaRPr dirty="0"/>
              </a:p>
            </p:txBody>
          </p:sp>
        </mc:Choice>
        <mc:Fallback xmlns="">
          <p:sp>
            <p:nvSpPr>
              <p:cNvPr id="3" name="Content Placeholder 2">
                <a:extLst>
                  <a:ext uri="{FF2B5EF4-FFF2-40B4-BE49-F238E27FC236}">
                    <a16:creationId xmlns:a16="http://schemas.microsoft.com/office/drawing/2014/main" id="{054B157D-46CD-AB0D-572D-C6DDF2BAF344}"/>
                  </a:ext>
                </a:extLst>
              </p:cNvPr>
              <p:cNvSpPr>
                <a:spLocks noGrp="1" noRot="1" noChangeAspect="1" noMove="1" noResize="1" noEditPoints="1" noAdjustHandles="1" noChangeArrowheads="1" noChangeShapeType="1" noTextEdit="1"/>
              </p:cNvSpPr>
              <p:nvPr>
                <p:ph idx="1"/>
              </p:nvPr>
            </p:nvSpPr>
            <p:spPr>
              <a:xfrm>
                <a:off x="273099" y="1894519"/>
                <a:ext cx="8582666" cy="4588837"/>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840238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796" y="368020"/>
            <a:ext cx="7765322" cy="970450"/>
          </a:xfrm>
          <a:ln>
            <a:solidFill>
              <a:schemeClr val="tx1"/>
            </a:solidFill>
          </a:ln>
        </p:spPr>
        <p:txBody>
          <a:bodyPr/>
          <a:lstStyle/>
          <a:p>
            <a:r>
              <a:rPr dirty="0"/>
              <a:t>Task 2: Exploratory Data Analysis</a:t>
            </a:r>
          </a:p>
        </p:txBody>
      </p:sp>
      <p:sp>
        <p:nvSpPr>
          <p:cNvPr id="3" name="Content Placeholder 2"/>
          <p:cNvSpPr>
            <a:spLocks noGrp="1"/>
          </p:cNvSpPr>
          <p:nvPr>
            <p:ph idx="1"/>
          </p:nvPr>
        </p:nvSpPr>
        <p:spPr>
          <a:xfrm>
            <a:off x="298175" y="1602969"/>
            <a:ext cx="8398564" cy="5447055"/>
          </a:xfrm>
        </p:spPr>
        <p:txBody>
          <a:bodyPr>
            <a:normAutofit fontScale="92500" lnSpcReduction="20000"/>
          </a:bodyPr>
          <a:lstStyle/>
          <a:p>
            <a:pPr algn="just"/>
            <a:r>
              <a:rPr lang="en-US" dirty="0"/>
              <a:t>Here, we explore the sales and transaction data to understand how revenue was being generated and what factors influenced purchasing behavior. </a:t>
            </a:r>
          </a:p>
          <a:p>
            <a:pPr algn="just"/>
            <a:r>
              <a:rPr lang="en-US" dirty="0"/>
              <a:t>The exploratory analysis revealed that order values were tightly distributed between ₹70 and ₹100, indicating a relatively narrow pricing range and a stable product catalogue. </a:t>
            </a:r>
          </a:p>
          <a:p>
            <a:pPr algn="just"/>
            <a:r>
              <a:rPr lang="en-US" dirty="0"/>
              <a:t>This suggested that revenue growth was less dependent on price variation and more influenced by customer purchasing behavior, such as order frequency and quantity.</a:t>
            </a:r>
          </a:p>
          <a:p>
            <a:pPr algn="just"/>
            <a:r>
              <a:rPr lang="en-US" dirty="0"/>
              <a:t>Further analysis showed that the Gadgets category contributed the majority of revenue, making it the primary driver of sales performance. This indicates strong demand and product-market fit.</a:t>
            </a:r>
          </a:p>
          <a:p>
            <a:pPr algn="just"/>
            <a:r>
              <a:rPr lang="en-US" dirty="0"/>
              <a:t> It also exposes a potential business risk due to reliance on a single category. Geographic analysis revealed higher revenue contributions from India compared to the USA, pointing toward stronger customer engagement or market penetration in that region. </a:t>
            </a:r>
          </a:p>
          <a:p>
            <a:pPr algn="just"/>
            <a:r>
              <a:rPr lang="en-US" dirty="0"/>
              <a:t>Overall, it provided a clear understanding of what drives revenue and highlighted opportunities to increase sales through volume optimization and category diversification.</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F53F2-3C95-3A1D-6C05-C45174981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364216-F569-7D86-648B-E0AE53887AB2}"/>
              </a:ext>
            </a:extLst>
          </p:cNvPr>
          <p:cNvSpPr>
            <a:spLocks noGrp="1"/>
          </p:cNvSpPr>
          <p:nvPr>
            <p:ph type="title"/>
          </p:nvPr>
        </p:nvSpPr>
        <p:spPr>
          <a:xfrm>
            <a:off x="462376" y="238811"/>
            <a:ext cx="8209721" cy="970450"/>
          </a:xfrm>
          <a:ln>
            <a:solidFill>
              <a:schemeClr val="tx1"/>
            </a:solidFill>
          </a:ln>
        </p:spPr>
        <p:txBody>
          <a:bodyPr/>
          <a:lstStyle/>
          <a:p>
            <a:r>
              <a:rPr dirty="0"/>
              <a:t>Task 2: Exploratory Data Analysis</a:t>
            </a:r>
          </a:p>
        </p:txBody>
      </p:sp>
      <p:pic>
        <p:nvPicPr>
          <p:cNvPr id="4" name="Picture 3">
            <a:extLst>
              <a:ext uri="{FF2B5EF4-FFF2-40B4-BE49-F238E27FC236}">
                <a16:creationId xmlns:a16="http://schemas.microsoft.com/office/drawing/2014/main" id="{FA6FAD1A-835F-205F-2BFA-F4BFEC27D0A0}"/>
              </a:ext>
            </a:extLst>
          </p:cNvPr>
          <p:cNvPicPr>
            <a:picLocks noChangeAspect="1"/>
          </p:cNvPicPr>
          <p:nvPr/>
        </p:nvPicPr>
        <p:blipFill>
          <a:blip r:embed="rId2"/>
          <a:stretch>
            <a:fillRect/>
          </a:stretch>
        </p:blipFill>
        <p:spPr>
          <a:xfrm>
            <a:off x="4567237" y="3424237"/>
            <a:ext cx="9525" cy="9525"/>
          </a:xfrm>
          <a:prstGeom prst="rect">
            <a:avLst/>
          </a:prstGeom>
        </p:spPr>
      </p:pic>
      <p:pic>
        <p:nvPicPr>
          <p:cNvPr id="5" name="Picture 4">
            <a:extLst>
              <a:ext uri="{FF2B5EF4-FFF2-40B4-BE49-F238E27FC236}">
                <a16:creationId xmlns:a16="http://schemas.microsoft.com/office/drawing/2014/main" id="{AF6F17AF-B431-43D3-CFDF-EB5D890D99C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717237" y="3574237"/>
            <a:ext cx="152400" cy="152400"/>
          </a:xfrm>
          <a:prstGeom prst="rect">
            <a:avLst/>
          </a:prstGeom>
        </p:spPr>
      </p:pic>
      <p:pic>
        <p:nvPicPr>
          <p:cNvPr id="11" name="Content Placeholder 10">
            <a:extLst>
              <a:ext uri="{FF2B5EF4-FFF2-40B4-BE49-F238E27FC236}">
                <a16:creationId xmlns:a16="http://schemas.microsoft.com/office/drawing/2014/main" id="{C438A6C3-8E8F-DADB-DDA1-52C174254D3B}"/>
              </a:ext>
            </a:extLst>
          </p:cNvPr>
          <p:cNvPicPr>
            <a:picLocks noGrp="1" noChangeAspect="1"/>
          </p:cNvPicPr>
          <p:nvPr>
            <p:ph idx="1"/>
          </p:nvPr>
        </p:nvPicPr>
        <p:blipFill>
          <a:blip r:embed="rId4"/>
          <a:stretch>
            <a:fillRect/>
          </a:stretch>
        </p:blipFill>
        <p:spPr>
          <a:xfrm>
            <a:off x="471901" y="1307016"/>
            <a:ext cx="8209721" cy="5312173"/>
          </a:xfrm>
        </p:spPr>
      </p:pic>
    </p:spTree>
    <p:extLst>
      <p:ext uri="{BB962C8B-B14F-4D97-AF65-F5344CB8AC3E}">
        <p14:creationId xmlns:p14="http://schemas.microsoft.com/office/powerpoint/2010/main" val="4183339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7146E-4C4F-B15A-B66E-1DC65B3A3D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E4C1E-D497-26F4-5565-9E09C7723CC8}"/>
              </a:ext>
            </a:extLst>
          </p:cNvPr>
          <p:cNvSpPr>
            <a:spLocks noGrp="1"/>
          </p:cNvSpPr>
          <p:nvPr>
            <p:ph type="title"/>
          </p:nvPr>
        </p:nvSpPr>
        <p:spPr>
          <a:xfrm>
            <a:off x="614796" y="368020"/>
            <a:ext cx="7765322" cy="970450"/>
          </a:xfrm>
          <a:ln>
            <a:solidFill>
              <a:schemeClr val="tx1"/>
            </a:solidFill>
          </a:ln>
        </p:spPr>
        <p:txBody>
          <a:bodyPr>
            <a:normAutofit fontScale="90000"/>
          </a:bodyPr>
          <a:lstStyle/>
          <a:p>
            <a:r>
              <a:rPr lang="en-US" dirty="0"/>
              <a:t>Task 2 — Hypothesis &amp; Validation (Revenue Drivers)</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28E25B-5262-2841-4562-C12B5EA8AFAA}"/>
                  </a:ext>
                </a:extLst>
              </p:cNvPr>
              <p:cNvSpPr>
                <a:spLocks noGrp="1"/>
              </p:cNvSpPr>
              <p:nvPr>
                <p:ph idx="1"/>
              </p:nvPr>
            </p:nvSpPr>
            <p:spPr>
              <a:xfrm>
                <a:off x="298175" y="1602969"/>
                <a:ext cx="8398564" cy="5016492"/>
              </a:xfrm>
            </p:spPr>
            <p:txBody>
              <a:bodyPr>
                <a:normAutofit fontScale="92500" lnSpcReduction="10000"/>
              </a:bodyPr>
              <a:lstStyle/>
              <a:p>
                <a:pPr algn="just"/>
                <a:r>
                  <a:rPr lang="en-US" dirty="0"/>
                  <a:t>Hypothesis (H₀):Quantity ordered does not significantly influence total revenue.</a:t>
                </a:r>
              </a:p>
              <a:p>
                <a:pPr algn="just"/>
                <a:r>
                  <a:rPr lang="en-US" dirty="0"/>
                  <a:t>Alternative Hypothesis (H₁):Quantity ordered significantly influences total revenue.</a:t>
                </a:r>
              </a:p>
              <a:p>
                <a:pPr algn="just"/>
                <a:r>
                  <a:rPr lang="en-US" dirty="0"/>
                  <a:t>Validation (Using observed values):</a:t>
                </a:r>
              </a:p>
              <a:p>
                <a:pPr algn="just"/>
                <a:endParaRPr lang="en-US" dirty="0"/>
              </a:p>
              <a:p>
                <a:pPr algn="just"/>
                <a:endParaRPr lang="en-US" dirty="0"/>
              </a:p>
              <a:p>
                <a:pPr marL="36900" indent="0" algn="just">
                  <a:buNone/>
                </a:pPr>
                <a:endParaRPr lang="en-US" dirty="0"/>
              </a:p>
              <a:p>
                <a:pPr algn="just"/>
                <a:r>
                  <a:rPr lang="en-IN" dirty="0"/>
                  <a:t>When quantity increased from 1 to 2 units:</a:t>
                </a:r>
              </a:p>
              <a:p>
                <a:pPr marL="36900" indent="0" algn="just">
                  <a:buNone/>
                </a:pPr>
                <a14:m>
                  <m:oMathPara xmlns:m="http://schemas.openxmlformats.org/officeDocument/2006/math">
                    <m:oMathParaPr>
                      <m:jc m:val="centerGroup"/>
                    </m:oMathParaPr>
                    <m:oMath xmlns:m="http://schemas.openxmlformats.org/officeDocument/2006/math">
                      <m:r>
                        <m:rPr>
                          <m:nor/>
                        </m:rPr>
                        <a:rPr lang="en-IN" b="0"/>
                        <m:t>Revenue</m:t>
                      </m:r>
                      <m:r>
                        <m:rPr>
                          <m:nor/>
                        </m:rPr>
                        <a:rPr lang="en-IN" b="0" i="1"/>
                        <m:t> </m:t>
                      </m:r>
                      <m:r>
                        <m:rPr>
                          <m:nor/>
                        </m:rPr>
                        <a:rPr lang="en-IN" b="0" i="1"/>
                        <m:t>Increase</m:t>
                      </m:r>
                      <m:r>
                        <a:rPr lang="en-IN">
                          <a:latin typeface="Cambria Math" panose="02040503050406030204" pitchFamily="18" charset="0"/>
                        </a:rPr>
                        <m:t>=</m:t>
                      </m:r>
                      <m:r>
                        <a:rPr lang="en-IN">
                          <a:latin typeface="Cambria Math" panose="02040503050406030204" pitchFamily="18" charset="0"/>
                        </a:rPr>
                        <m:t>100</m:t>
                      </m:r>
                      <m:r>
                        <a:rPr lang="en-IN">
                          <a:latin typeface="Cambria Math" panose="02040503050406030204" pitchFamily="18" charset="0"/>
                        </a:rPr>
                        <m:t>−</m:t>
                      </m:r>
                      <m:r>
                        <a:rPr lang="en-IN">
                          <a:latin typeface="Cambria Math" panose="02040503050406030204" pitchFamily="18" charset="0"/>
                        </a:rPr>
                        <m:t>70</m:t>
                      </m:r>
                      <m:r>
                        <a:rPr lang="en-IN">
                          <a:latin typeface="Cambria Math" panose="02040503050406030204" pitchFamily="18" charset="0"/>
                        </a:rPr>
                        <m:t>=</m:t>
                      </m:r>
                      <m:r>
                        <m:rPr>
                          <m:nor/>
                        </m:rPr>
                        <a:rPr lang="en-IN" i="1"/>
                        <m:t>₹</m:t>
                      </m:r>
                      <m:r>
                        <a:rPr lang="en-IN">
                          <a:latin typeface="Cambria Math" panose="02040503050406030204" pitchFamily="18" charset="0"/>
                        </a:rPr>
                        <m:t>30</m:t>
                      </m:r>
                    </m:oMath>
                  </m:oMathPara>
                </a14:m>
                <a:endParaRPr lang="en-IN" b="0" dirty="0"/>
              </a:p>
              <a:p>
                <a:pPr marL="36900" indent="0" algn="just">
                  <a:buNone/>
                </a:pPr>
                <a14:m>
                  <m:oMathPara xmlns:m="http://schemas.openxmlformats.org/officeDocument/2006/math">
                    <m:oMathParaPr>
                      <m:jc m:val="centerGroup"/>
                    </m:oMathParaPr>
                    <m:oMath xmlns:m="http://schemas.openxmlformats.org/officeDocument/2006/math">
                      <m:r>
                        <m:rPr>
                          <m:nor/>
                        </m:rPr>
                        <a:rPr lang="en-IN" b="0"/>
                        <m:t>Percentage</m:t>
                      </m:r>
                      <m:r>
                        <m:rPr>
                          <m:nor/>
                        </m:rPr>
                        <a:rPr lang="en-IN" b="0" i="1"/>
                        <m:t> </m:t>
                      </m:r>
                      <m:r>
                        <m:rPr>
                          <m:nor/>
                        </m:rPr>
                        <a:rPr lang="en-IN" b="0" i="1"/>
                        <m:t>Increase</m:t>
                      </m:r>
                      <m:r>
                        <a:rPr lang="en-IN">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30</m:t>
                          </m:r>
                        </m:num>
                        <m:den>
                          <m:r>
                            <a:rPr lang="ar-AE">
                              <a:latin typeface="Cambria Math" panose="02040503050406030204" pitchFamily="18" charset="0"/>
                            </a:rPr>
                            <m:t>70</m:t>
                          </m:r>
                        </m:den>
                      </m:f>
                      <m:r>
                        <a:rPr lang="ar-AE">
                          <a:latin typeface="Cambria Math" panose="02040503050406030204" pitchFamily="18" charset="0"/>
                        </a:rPr>
                        <m:t>×</m:t>
                      </m:r>
                      <m:r>
                        <a:rPr lang="ar-AE">
                          <a:latin typeface="Cambria Math" panose="02040503050406030204" pitchFamily="18" charset="0"/>
                        </a:rPr>
                        <m:t>100</m:t>
                      </m:r>
                      <m:r>
                        <a:rPr lang="ar-AE">
                          <a:latin typeface="Cambria Math" panose="02040503050406030204" pitchFamily="18" charset="0"/>
                        </a:rPr>
                        <m:t>≈</m:t>
                      </m:r>
                      <m:r>
                        <a:rPr lang="ar-AE">
                          <a:latin typeface="Cambria Math" panose="02040503050406030204" pitchFamily="18" charset="0"/>
                        </a:rPr>
                        <m:t>42</m:t>
                      </m:r>
                      <m:r>
                        <a:rPr lang="ar-AE">
                          <a:latin typeface="Cambria Math" panose="02040503050406030204" pitchFamily="18" charset="0"/>
                        </a:rPr>
                        <m:t>.</m:t>
                      </m:r>
                      <m:r>
                        <a:rPr lang="ar-AE">
                          <a:latin typeface="Cambria Math" panose="02040503050406030204" pitchFamily="18" charset="0"/>
                        </a:rPr>
                        <m:t>9</m:t>
                      </m:r>
                      <m:r>
                        <a:rPr lang="ar-AE">
                          <a:latin typeface="Cambria Math" panose="02040503050406030204" pitchFamily="18" charset="0"/>
                        </a:rPr>
                        <m:t>%</m:t>
                      </m:r>
                    </m:oMath>
                  </m:oMathPara>
                </a14:m>
                <a:endParaRPr lang="en-US" dirty="0"/>
              </a:p>
              <a:p>
                <a:pPr algn="just"/>
                <a:r>
                  <a:rPr lang="en-US" dirty="0"/>
                  <a:t>Conclusion: A clear revenue increase is observed with higher quantities. The null hypothesis is rejected, confirming that revenue is volume-driven.</a:t>
                </a:r>
                <a:endParaRPr dirty="0"/>
              </a:p>
            </p:txBody>
          </p:sp>
        </mc:Choice>
        <mc:Fallback xmlns="">
          <p:sp>
            <p:nvSpPr>
              <p:cNvPr id="3" name="Content Placeholder 2">
                <a:extLst>
                  <a:ext uri="{FF2B5EF4-FFF2-40B4-BE49-F238E27FC236}">
                    <a16:creationId xmlns:a16="http://schemas.microsoft.com/office/drawing/2014/main" id="{B628E25B-5262-2841-4562-C12B5EA8AFAA}"/>
                  </a:ext>
                </a:extLst>
              </p:cNvPr>
              <p:cNvSpPr>
                <a:spLocks noGrp="1" noRot="1" noChangeAspect="1" noMove="1" noResize="1" noEditPoints="1" noAdjustHandles="1" noChangeArrowheads="1" noChangeShapeType="1" noTextEdit="1"/>
              </p:cNvSpPr>
              <p:nvPr>
                <p:ph idx="1"/>
              </p:nvPr>
            </p:nvSpPr>
            <p:spPr>
              <a:xfrm>
                <a:off x="298175" y="1602969"/>
                <a:ext cx="8398564" cy="5016492"/>
              </a:xfrm>
              <a:blipFill>
                <a:blip r:embed="rId2"/>
                <a:stretch>
                  <a:fillRect/>
                </a:stretch>
              </a:blipFill>
            </p:spPr>
            <p:txBody>
              <a:bodyPr/>
              <a:lstStyle/>
              <a:p>
                <a:r>
                  <a:rPr lang="en-IN">
                    <a:noFill/>
                  </a:rPr>
                  <a:t> </a:t>
                </a:r>
              </a:p>
            </p:txBody>
          </p:sp>
        </mc:Fallback>
      </mc:AlternateContent>
      <p:graphicFrame>
        <p:nvGraphicFramePr>
          <p:cNvPr id="6" name="Table 5">
            <a:extLst>
              <a:ext uri="{FF2B5EF4-FFF2-40B4-BE49-F238E27FC236}">
                <a16:creationId xmlns:a16="http://schemas.microsoft.com/office/drawing/2014/main" id="{199AF6F8-03E3-D7C1-78DC-77C8BB70B9F7}"/>
              </a:ext>
            </a:extLst>
          </p:cNvPr>
          <p:cNvGraphicFramePr>
            <a:graphicFrameLocks noGrp="1"/>
          </p:cNvGraphicFramePr>
          <p:nvPr>
            <p:extLst>
              <p:ext uri="{D42A27DB-BD31-4B8C-83A1-F6EECF244321}">
                <p14:modId xmlns:p14="http://schemas.microsoft.com/office/powerpoint/2010/main" val="2116767694"/>
              </p:ext>
            </p:extLst>
          </p:nvPr>
        </p:nvGraphicFramePr>
        <p:xfrm>
          <a:off x="1069449" y="3311119"/>
          <a:ext cx="7005102" cy="1097280"/>
        </p:xfrm>
        <a:graphic>
          <a:graphicData uri="http://schemas.openxmlformats.org/drawingml/2006/table">
            <a:tbl>
              <a:tblPr/>
              <a:tblGrid>
                <a:gridCol w="2335034">
                  <a:extLst>
                    <a:ext uri="{9D8B030D-6E8A-4147-A177-3AD203B41FA5}">
                      <a16:colId xmlns:a16="http://schemas.microsoft.com/office/drawing/2014/main" val="737010292"/>
                    </a:ext>
                  </a:extLst>
                </a:gridCol>
                <a:gridCol w="2335034">
                  <a:extLst>
                    <a:ext uri="{9D8B030D-6E8A-4147-A177-3AD203B41FA5}">
                      <a16:colId xmlns:a16="http://schemas.microsoft.com/office/drawing/2014/main" val="3575161023"/>
                    </a:ext>
                  </a:extLst>
                </a:gridCol>
                <a:gridCol w="2335034">
                  <a:extLst>
                    <a:ext uri="{9D8B030D-6E8A-4147-A177-3AD203B41FA5}">
                      <a16:colId xmlns:a16="http://schemas.microsoft.com/office/drawing/2014/main" val="2009605868"/>
                    </a:ext>
                  </a:extLst>
                </a:gridCol>
              </a:tblGrid>
              <a:tr h="123844">
                <a:tc>
                  <a:txBody>
                    <a:bodyPr/>
                    <a:lstStyle/>
                    <a:p>
                      <a:pPr marL="0" indent="0">
                        <a:buFont typeface="Arial" panose="020B0604020202020204" pitchFamily="34" charset="0"/>
                        <a:buNone/>
                      </a:pPr>
                      <a:r>
                        <a:rPr lang="en-IN" b="0" i="1">
                          <a:solidFill>
                            <a:schemeClr val="tx2"/>
                          </a:solidFill>
                          <a:latin typeface="+mn-lt"/>
                        </a:rPr>
                        <a:t>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Arial" panose="020B0604020202020204" pitchFamily="34" charset="0"/>
                        <a:buNone/>
                      </a:pPr>
                      <a:r>
                        <a:rPr lang="en-IN" b="0" i="1">
                          <a:solidFill>
                            <a:schemeClr val="tx2"/>
                          </a:solidFill>
                          <a:latin typeface="+mn-lt"/>
                        </a:rPr>
                        <a:t>Unit 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Arial" panose="020B0604020202020204" pitchFamily="34" charset="0"/>
                        <a:buNone/>
                      </a:pPr>
                      <a:r>
                        <a:rPr lang="en-IN" b="0" i="1">
                          <a:solidFill>
                            <a:schemeClr val="tx2"/>
                          </a:solidFill>
                          <a:latin typeface="+mn-lt"/>
                        </a:rPr>
                        <a:t>Total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87329"/>
                  </a:ext>
                </a:extLst>
              </a:tr>
              <a:tr h="284858">
                <a:tc>
                  <a:txBody>
                    <a:bodyPr/>
                    <a:lstStyle/>
                    <a:p>
                      <a:pPr marL="0" indent="0">
                        <a:buFont typeface="Arial" panose="020B0604020202020204" pitchFamily="34" charset="0"/>
                        <a:buNone/>
                      </a:pPr>
                      <a:r>
                        <a:rPr lang="en-IN" b="0" i="1">
                          <a:solidFill>
                            <a:schemeClr val="tx2"/>
                          </a:solidFill>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Arial" panose="020B0604020202020204" pitchFamily="34" charset="0"/>
                        <a:buNone/>
                      </a:pPr>
                      <a:r>
                        <a:rPr lang="en-IN" b="0" i="1">
                          <a:solidFill>
                            <a:schemeClr val="tx2"/>
                          </a:solidFill>
                          <a:latin typeface="+mn-lt"/>
                        </a:rPr>
                        <a:t>₹70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Arial" panose="020B0604020202020204" pitchFamily="34" charset="0"/>
                        <a:buNone/>
                      </a:pPr>
                      <a:r>
                        <a:rPr lang="en-IN" b="0" i="1">
                          <a:solidFill>
                            <a:schemeClr val="tx2"/>
                          </a:solidFill>
                          <a:latin typeface="+mn-lt"/>
                        </a:rPr>
                        <a:t>₹70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4180919"/>
                  </a:ext>
                </a:extLst>
              </a:tr>
              <a:tr h="284858">
                <a:tc>
                  <a:txBody>
                    <a:bodyPr/>
                    <a:lstStyle/>
                    <a:p>
                      <a:pPr marL="0" indent="0">
                        <a:buFont typeface="Arial" panose="020B0604020202020204" pitchFamily="34" charset="0"/>
                        <a:buNone/>
                      </a:pPr>
                      <a:r>
                        <a:rPr lang="en-IN" b="0" i="1">
                          <a:solidFill>
                            <a:schemeClr val="tx2"/>
                          </a:solidFill>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Arial" panose="020B0604020202020204" pitchFamily="34" charset="0"/>
                        <a:buNone/>
                      </a:pPr>
                      <a:r>
                        <a:rPr lang="en-IN" b="0" i="1" dirty="0">
                          <a:solidFill>
                            <a:schemeClr val="tx2"/>
                          </a:solidFill>
                          <a:latin typeface="+mn-lt"/>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Arial" panose="020B0604020202020204" pitchFamily="34" charset="0"/>
                        <a:buNone/>
                      </a:pPr>
                      <a:r>
                        <a:rPr lang="en-IN" b="0" i="1" dirty="0">
                          <a:solidFill>
                            <a:schemeClr val="tx2"/>
                          </a:solidFill>
                          <a:latin typeface="+mn-l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4749452"/>
                  </a:ext>
                </a:extLst>
              </a:tr>
            </a:tbl>
          </a:graphicData>
        </a:graphic>
      </p:graphicFrame>
    </p:spTree>
    <p:extLst>
      <p:ext uri="{BB962C8B-B14F-4D97-AF65-F5344CB8AC3E}">
        <p14:creationId xmlns:p14="http://schemas.microsoft.com/office/powerpoint/2010/main" val="4252833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331" y="169098"/>
            <a:ext cx="7765322" cy="970450"/>
          </a:xfrm>
          <a:ln>
            <a:solidFill>
              <a:schemeClr val="tx1"/>
            </a:solidFill>
          </a:ln>
        </p:spPr>
        <p:txBody>
          <a:bodyPr>
            <a:normAutofit fontScale="90000"/>
          </a:bodyPr>
          <a:lstStyle/>
          <a:p>
            <a:r>
              <a:rPr dirty="0"/>
              <a:t>Task 3: Advanced Customer Analytics</a:t>
            </a:r>
          </a:p>
        </p:txBody>
      </p:sp>
      <p:sp>
        <p:nvSpPr>
          <p:cNvPr id="3" name="Content Placeholder 2"/>
          <p:cNvSpPr>
            <a:spLocks noGrp="1"/>
          </p:cNvSpPr>
          <p:nvPr>
            <p:ph idx="1"/>
          </p:nvPr>
        </p:nvSpPr>
        <p:spPr>
          <a:xfrm>
            <a:off x="263984" y="1262521"/>
            <a:ext cx="8488016" cy="5357735"/>
          </a:xfrm>
        </p:spPr>
        <p:txBody>
          <a:bodyPr>
            <a:normAutofit fontScale="85000" lnSpcReduction="10000"/>
          </a:bodyPr>
          <a:lstStyle/>
          <a:p>
            <a:r>
              <a:rPr lang="en-US" dirty="0"/>
              <a:t>This moved beyond descriptive analysis to examine customer behavior across the conversion funnel, cohorts, and segments, enabling business-level decision-making. </a:t>
            </a:r>
          </a:p>
          <a:p>
            <a:r>
              <a:rPr lang="en-US" dirty="0"/>
              <a:t>Funnel analysis showed that while a large number of users visited the platform, a significant proportion dropped off after signing up, and an even smaller subset completed a purchase. </a:t>
            </a:r>
          </a:p>
          <a:p>
            <a:r>
              <a:rPr lang="en-US" dirty="0"/>
              <a:t>This indicated that customer acquisition strategies were effective in attracting users, but post-signup engagement and conversion strategies were underperforming.</a:t>
            </a:r>
          </a:p>
          <a:p>
            <a:r>
              <a:rPr lang="en-US" dirty="0"/>
              <a:t>Cohort analysis further revealed that conversion rates varied by signup month, with stronger performance observed during specific periods such as April and May. This variation suggested that external factors such as marketing campaigns, seasonal demand, or user intent played a role in conversion behavior. </a:t>
            </a:r>
          </a:p>
          <a:p>
            <a:r>
              <a:rPr lang="en-US" dirty="0"/>
              <a:t>Segment analysis demonstrated that high-value customers generated substantially more revenue per user compared to mid- and low-value segments, reinforcing the importance of targeted retention strategies. </a:t>
            </a:r>
          </a:p>
          <a:p>
            <a:r>
              <a:rPr lang="en-US" dirty="0"/>
              <a:t>The KPI dashboard summarized these findings, highlighting a healthy overall conversion rate. Together, these insights indicated that the primary growth opportunity lies not in acquiring more users, but in improving retention, engagement, and lifetime value of existing customers.</a:t>
            </a:r>
            <a:endParaRPr dirty="0"/>
          </a:p>
          <a:p>
            <a:r>
              <a:rPr lang="en-IN" dirty="0"/>
              <a:t>But the </a:t>
            </a:r>
            <a:r>
              <a:rPr dirty="0"/>
              <a:t>Churn rate </a:t>
            </a:r>
            <a:r>
              <a:rPr lang="en-IN" dirty="0"/>
              <a:t>is </a:t>
            </a:r>
            <a:r>
              <a:rPr dirty="0"/>
              <a:t>observed to be significantly high</a:t>
            </a:r>
            <a:r>
              <a:rPr lang="en-IN" dirty="0"/>
              <a: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8F780-135C-59D9-2FBC-3709680592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8918E-CE4F-145C-8302-85599799AC3B}"/>
              </a:ext>
            </a:extLst>
          </p:cNvPr>
          <p:cNvSpPr>
            <a:spLocks noGrp="1"/>
          </p:cNvSpPr>
          <p:nvPr>
            <p:ph type="title"/>
          </p:nvPr>
        </p:nvSpPr>
        <p:spPr>
          <a:xfrm>
            <a:off x="619765" y="192157"/>
            <a:ext cx="7765322" cy="970450"/>
          </a:xfrm>
          <a:ln>
            <a:solidFill>
              <a:schemeClr val="tx1"/>
            </a:solidFill>
          </a:ln>
        </p:spPr>
        <p:txBody>
          <a:bodyPr>
            <a:normAutofit fontScale="90000"/>
          </a:bodyPr>
          <a:lstStyle/>
          <a:p>
            <a:r>
              <a:rPr dirty="0"/>
              <a:t>Task 3: Advanced Customer Analytics</a:t>
            </a:r>
          </a:p>
        </p:txBody>
      </p:sp>
      <p:pic>
        <p:nvPicPr>
          <p:cNvPr id="7" name="Picture 6">
            <a:extLst>
              <a:ext uri="{FF2B5EF4-FFF2-40B4-BE49-F238E27FC236}">
                <a16:creationId xmlns:a16="http://schemas.microsoft.com/office/drawing/2014/main" id="{432E8205-64C7-299F-DA8C-19EF0221B00C}"/>
              </a:ext>
            </a:extLst>
          </p:cNvPr>
          <p:cNvPicPr>
            <a:picLocks noChangeAspect="1"/>
          </p:cNvPicPr>
          <p:nvPr/>
        </p:nvPicPr>
        <p:blipFill>
          <a:blip r:embed="rId2"/>
          <a:srcRect t="9712" r="21077" b="3585"/>
          <a:stretch>
            <a:fillRect/>
          </a:stretch>
        </p:blipFill>
        <p:spPr>
          <a:xfrm>
            <a:off x="678559" y="1461053"/>
            <a:ext cx="7882910" cy="4382296"/>
          </a:xfrm>
          <a:prstGeom prst="rect">
            <a:avLst/>
          </a:prstGeom>
        </p:spPr>
      </p:pic>
      <p:pic>
        <p:nvPicPr>
          <p:cNvPr id="5" name="Content Placeholder 4">
            <a:extLst>
              <a:ext uri="{FF2B5EF4-FFF2-40B4-BE49-F238E27FC236}">
                <a16:creationId xmlns:a16="http://schemas.microsoft.com/office/drawing/2014/main" id="{AFD23119-CB0E-C368-1D49-47EAD7DC7F2B}"/>
              </a:ext>
            </a:extLst>
          </p:cNvPr>
          <p:cNvPicPr>
            <a:picLocks noGrp="1" noChangeAspect="1"/>
          </p:cNvPicPr>
          <p:nvPr>
            <p:ph idx="1"/>
          </p:nvPr>
        </p:nvPicPr>
        <p:blipFill>
          <a:blip r:embed="rId3"/>
          <a:srcRect t="6550" r="4992"/>
          <a:stretch>
            <a:fillRect/>
          </a:stretch>
        </p:blipFill>
        <p:spPr>
          <a:xfrm>
            <a:off x="2962832" y="2888700"/>
            <a:ext cx="5502609" cy="2707030"/>
          </a:xfrm>
        </p:spPr>
      </p:pic>
    </p:spTree>
    <p:extLst>
      <p:ext uri="{BB962C8B-B14F-4D97-AF65-F5344CB8AC3E}">
        <p14:creationId xmlns:p14="http://schemas.microsoft.com/office/powerpoint/2010/main" val="875402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ADB42-BCCD-1770-BF38-F5E19EDE0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6F6DE-0245-8369-59BB-6779A8B5D085}"/>
              </a:ext>
            </a:extLst>
          </p:cNvPr>
          <p:cNvSpPr>
            <a:spLocks noGrp="1"/>
          </p:cNvSpPr>
          <p:nvPr>
            <p:ph type="title"/>
          </p:nvPr>
        </p:nvSpPr>
        <p:spPr>
          <a:xfrm>
            <a:off x="359579" y="192157"/>
            <a:ext cx="8347100" cy="970450"/>
          </a:xfrm>
          <a:ln>
            <a:solidFill>
              <a:schemeClr val="tx1"/>
            </a:solidFill>
          </a:ln>
        </p:spPr>
        <p:txBody>
          <a:bodyPr>
            <a:normAutofit fontScale="90000"/>
          </a:bodyPr>
          <a:lstStyle/>
          <a:p>
            <a:r>
              <a:rPr dirty="0"/>
              <a:t>Task 3: Advanced Customer Analytics</a:t>
            </a:r>
          </a:p>
        </p:txBody>
      </p:sp>
      <p:pic>
        <p:nvPicPr>
          <p:cNvPr id="10" name="Picture 9">
            <a:extLst>
              <a:ext uri="{FF2B5EF4-FFF2-40B4-BE49-F238E27FC236}">
                <a16:creationId xmlns:a16="http://schemas.microsoft.com/office/drawing/2014/main" id="{0F8FB1DC-B800-B2B1-E993-CB7407E7A659}"/>
              </a:ext>
            </a:extLst>
          </p:cNvPr>
          <p:cNvPicPr>
            <a:picLocks noChangeAspect="1"/>
          </p:cNvPicPr>
          <p:nvPr/>
        </p:nvPicPr>
        <p:blipFill>
          <a:blip r:embed="rId2"/>
          <a:srcRect l="2826" t="6179" r="5978"/>
          <a:stretch>
            <a:fillRect/>
          </a:stretch>
        </p:blipFill>
        <p:spPr>
          <a:xfrm>
            <a:off x="2200893" y="3792733"/>
            <a:ext cx="6505785" cy="2979998"/>
          </a:xfrm>
          <a:prstGeom prst="rect">
            <a:avLst/>
          </a:prstGeom>
        </p:spPr>
      </p:pic>
      <p:pic>
        <p:nvPicPr>
          <p:cNvPr id="8" name="Content Placeholder 7">
            <a:extLst>
              <a:ext uri="{FF2B5EF4-FFF2-40B4-BE49-F238E27FC236}">
                <a16:creationId xmlns:a16="http://schemas.microsoft.com/office/drawing/2014/main" id="{DAC92782-FC21-2E4E-E4CF-3E30B2459774}"/>
              </a:ext>
            </a:extLst>
          </p:cNvPr>
          <p:cNvPicPr>
            <a:picLocks noGrp="1" noChangeAspect="1"/>
          </p:cNvPicPr>
          <p:nvPr>
            <p:ph idx="1"/>
          </p:nvPr>
        </p:nvPicPr>
        <p:blipFill>
          <a:blip r:embed="rId3"/>
          <a:srcRect l="2432" t="6879" r="5530" b="4181"/>
          <a:stretch>
            <a:fillRect/>
          </a:stretch>
        </p:blipFill>
        <p:spPr>
          <a:xfrm>
            <a:off x="359578" y="1296553"/>
            <a:ext cx="5691583" cy="2755437"/>
          </a:xfrm>
        </p:spPr>
      </p:pic>
    </p:spTree>
    <p:extLst>
      <p:ext uri="{BB962C8B-B14F-4D97-AF65-F5344CB8AC3E}">
        <p14:creationId xmlns:p14="http://schemas.microsoft.com/office/powerpoint/2010/main" val="2744472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B8DF6-A8C3-4880-CE61-A612CBEE3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4113A-C353-583B-4676-6474061BF1C0}"/>
              </a:ext>
            </a:extLst>
          </p:cNvPr>
          <p:cNvSpPr>
            <a:spLocks noGrp="1"/>
          </p:cNvSpPr>
          <p:nvPr>
            <p:ph type="title"/>
          </p:nvPr>
        </p:nvSpPr>
        <p:spPr>
          <a:xfrm>
            <a:off x="589947" y="202096"/>
            <a:ext cx="7765322" cy="970450"/>
          </a:xfrm>
          <a:ln>
            <a:solidFill>
              <a:schemeClr val="tx1"/>
            </a:solidFill>
          </a:ln>
        </p:spPr>
        <p:txBody>
          <a:bodyPr>
            <a:normAutofit fontScale="90000"/>
          </a:bodyPr>
          <a:lstStyle/>
          <a:p>
            <a:r>
              <a:rPr lang="en-US" dirty="0"/>
              <a:t>Task 3 — Hypothesis &amp; Statistical Validation (Funnel Drop-Off)</a:t>
            </a:r>
            <a:endParaRPr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56578D4-7221-9767-D398-486689F8BF0B}"/>
                  </a:ext>
                </a:extLst>
              </p:cNvPr>
              <p:cNvSpPr>
                <a:spLocks noGrp="1"/>
              </p:cNvSpPr>
              <p:nvPr>
                <p:ph idx="1"/>
              </p:nvPr>
            </p:nvSpPr>
            <p:spPr>
              <a:xfrm>
                <a:off x="327992" y="1291544"/>
                <a:ext cx="8656982" cy="5364360"/>
              </a:xfrm>
            </p:spPr>
            <p:txBody>
              <a:bodyPr>
                <a:normAutofit fontScale="85000" lnSpcReduction="20000"/>
              </a:bodyPr>
              <a:lstStyle/>
              <a:p>
                <a:pPr>
                  <a:lnSpc>
                    <a:spcPct val="120000"/>
                  </a:lnSpc>
                </a:pPr>
                <a:r>
                  <a:rPr lang="en-US" b="1" dirty="0"/>
                  <a:t>Hypothesis (H₀):</a:t>
                </a:r>
                <a:br>
                  <a:rPr lang="en-US" dirty="0"/>
                </a:br>
                <a:r>
                  <a:rPr lang="en-US" dirty="0"/>
                  <a:t>Customer drop-off across funnel stages occurs randomly.</a:t>
                </a:r>
              </a:p>
              <a:p>
                <a:pPr>
                  <a:lnSpc>
                    <a:spcPct val="120000"/>
                  </a:lnSpc>
                </a:pPr>
                <a:r>
                  <a:rPr lang="en-US" b="1" dirty="0"/>
                  <a:t>Alternative Hypothesis (H₁):</a:t>
                </a:r>
                <a:br>
                  <a:rPr lang="en-US" dirty="0"/>
                </a:br>
                <a:r>
                  <a:rPr lang="en-US" dirty="0"/>
                  <a:t>Customer drop-off across funnel stages is statistically significant.</a:t>
                </a:r>
              </a:p>
              <a:p>
                <a:pPr>
                  <a:lnSpc>
                    <a:spcPct val="120000"/>
                  </a:lnSpc>
                </a:pPr>
                <a:r>
                  <a:rPr lang="en-US" b="1" dirty="0"/>
                  <a:t>Observed Funnel Values (from dashboard):</a:t>
                </a:r>
              </a:p>
              <a:p>
                <a:pPr marL="36900" indent="0">
                  <a:lnSpc>
                    <a:spcPct val="120000"/>
                  </a:lnSpc>
                  <a:buNone/>
                </a:pPr>
                <a:r>
                  <a:rPr lang="en-US" dirty="0"/>
                  <a:t>       Visited → 100%, Signed Up → ~70.6%, Purchased → ~54.8%</a:t>
                </a:r>
              </a:p>
              <a:p>
                <a:pPr>
                  <a:lnSpc>
                    <a:spcPct val="120000"/>
                  </a:lnSpc>
                </a:pPr>
                <a:r>
                  <a:rPr lang="en-US" b="1" dirty="0"/>
                  <a:t>Drop-off Calculation:</a:t>
                </a:r>
                <a:endParaRPr lang="en-US" dirty="0"/>
              </a:p>
              <a:p>
                <a:pPr marL="36900" indent="0">
                  <a:lnSpc>
                    <a:spcPct val="120000"/>
                  </a:lnSpc>
                  <a:buNone/>
                </a:pPr>
                <a:r>
                  <a:rPr lang="en-US" dirty="0"/>
                  <a:t>              1.Signup drop-off:                 </a:t>
                </a:r>
                <a14:m>
                  <m:oMath xmlns:m="http://schemas.openxmlformats.org/officeDocument/2006/math">
                    <m:r>
                      <a:rPr lang="en-US">
                        <a:latin typeface="Cambria Math" panose="02040503050406030204" pitchFamily="18" charset="0"/>
                      </a:rPr>
                      <m:t>100−70.6=29.4%</m:t>
                    </m:r>
                  </m:oMath>
                </a14:m>
                <a:endParaRPr lang="en-US" dirty="0"/>
              </a:p>
              <a:p>
                <a:pPr marL="36900" indent="0">
                  <a:lnSpc>
                    <a:spcPct val="120000"/>
                  </a:lnSpc>
                  <a:buNone/>
                </a:pPr>
                <a:r>
                  <a:rPr lang="en-US" dirty="0"/>
                  <a:t>              2.Purchase drop-off:        </a:t>
                </a:r>
                <a14:m>
                  <m:oMath xmlns:m="http://schemas.openxmlformats.org/officeDocument/2006/math">
                    <m:r>
                      <a:rPr lang="en-IN" b="0" i="0" smtClean="0">
                        <a:latin typeface="Cambria Math" panose="02040503050406030204" pitchFamily="18" charset="0"/>
                      </a:rPr>
                      <m:t>      </m:t>
                    </m:r>
                    <m:r>
                      <a:rPr lang="en-US">
                        <a:latin typeface="Cambria Math" panose="02040503050406030204" pitchFamily="18" charset="0"/>
                      </a:rPr>
                      <m:t>70.6−54.8=15.8%</m:t>
                    </m:r>
                  </m:oMath>
                </a14:m>
                <a:endParaRPr lang="en-US" dirty="0"/>
              </a:p>
              <a:p>
                <a:pPr marL="36900" indent="0">
                  <a:lnSpc>
                    <a:spcPct val="120000"/>
                  </a:lnSpc>
                  <a:buNone/>
                </a:pPr>
                <a:r>
                  <a:rPr lang="en-US" dirty="0"/>
                  <a:t>              3.Total funnel loss:</a:t>
                </a:r>
              </a:p>
              <a:p>
                <a:pPr marL="36900" indent="0">
                  <a:lnSpc>
                    <a:spcPct val="120000"/>
                  </a:lnSpc>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100−54.8=45.2%</m:t>
                      </m:r>
                    </m:oMath>
                  </m:oMathPara>
                </a14:m>
                <a:endParaRPr lang="en-US" dirty="0"/>
              </a:p>
              <a:p>
                <a:pPr>
                  <a:lnSpc>
                    <a:spcPct val="120000"/>
                  </a:lnSpc>
                </a:pPr>
                <a:r>
                  <a:rPr lang="en-US" dirty="0"/>
                  <a:t>Since nearly </a:t>
                </a:r>
                <a:r>
                  <a:rPr lang="en-US" b="1" dirty="0"/>
                  <a:t>half of the users are lost</a:t>
                </a:r>
                <a:r>
                  <a:rPr lang="en-US" dirty="0"/>
                  <a:t>, the drop-off magnitude is too large to be attributed to random behavior.</a:t>
                </a:r>
              </a:p>
              <a:p>
                <a:pPr>
                  <a:lnSpc>
                    <a:spcPct val="120000"/>
                  </a:lnSpc>
                </a:pPr>
                <a:r>
                  <a:rPr lang="en-US" b="1" dirty="0"/>
                  <a:t>Conclusion:</a:t>
                </a:r>
                <a:br>
                  <a:rPr lang="en-US" dirty="0"/>
                </a:br>
                <a:r>
                  <a:rPr lang="en-US" dirty="0"/>
                  <a:t>The null hypothesis is rejected. Funnel leakage is statistically and practically significant.</a:t>
                </a:r>
              </a:p>
              <a:p>
                <a:endParaRPr dirty="0"/>
              </a:p>
            </p:txBody>
          </p:sp>
        </mc:Choice>
        <mc:Fallback xmlns="">
          <p:sp>
            <p:nvSpPr>
              <p:cNvPr id="3" name="Content Placeholder 2">
                <a:extLst>
                  <a:ext uri="{FF2B5EF4-FFF2-40B4-BE49-F238E27FC236}">
                    <a16:creationId xmlns:a16="http://schemas.microsoft.com/office/drawing/2014/main" id="{956578D4-7221-9767-D398-486689F8BF0B}"/>
                  </a:ext>
                </a:extLst>
              </p:cNvPr>
              <p:cNvSpPr>
                <a:spLocks noGrp="1" noRot="1" noChangeAspect="1" noMove="1" noResize="1" noEditPoints="1" noAdjustHandles="1" noChangeArrowheads="1" noChangeShapeType="1" noTextEdit="1"/>
              </p:cNvSpPr>
              <p:nvPr>
                <p:ph idx="1"/>
              </p:nvPr>
            </p:nvSpPr>
            <p:spPr>
              <a:xfrm>
                <a:off x="327992" y="1291544"/>
                <a:ext cx="8656982" cy="5364360"/>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2374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r>
              <a:rPr dirty="0"/>
              <a:t>Statistical Test Applied</a:t>
            </a:r>
          </a:p>
        </p:txBody>
      </p:sp>
      <p:sp>
        <p:nvSpPr>
          <p:cNvPr id="3" name="Content Placeholder 2"/>
          <p:cNvSpPr>
            <a:spLocks noGrp="1"/>
          </p:cNvSpPr>
          <p:nvPr>
            <p:ph idx="1"/>
          </p:nvPr>
        </p:nvSpPr>
        <p:spPr>
          <a:xfrm>
            <a:off x="521208" y="1764116"/>
            <a:ext cx="7856308" cy="4058751"/>
          </a:xfrm>
        </p:spPr>
        <p:txBody>
          <a:bodyPr/>
          <a:lstStyle/>
          <a:p>
            <a:pPr algn="just"/>
            <a:r>
              <a:rPr lang="en-US" dirty="0"/>
              <a:t>To validate the observed funnel drop-offs, a chi-square test for proportions was conceptually applied, comparing expected versus observed conversions at each stage (Visited → Signed Up → Purchased). </a:t>
            </a:r>
          </a:p>
          <a:p>
            <a:pPr algn="just"/>
            <a:r>
              <a:rPr lang="en-US" dirty="0"/>
              <a:t>The null hypothesis assumed no significant difference in conversion rates across stages. </a:t>
            </a:r>
          </a:p>
          <a:p>
            <a:pPr algn="just"/>
            <a:r>
              <a:rPr lang="en-US" dirty="0"/>
              <a:t>While the alternative hypothesized meaningful drop-offs. This test is appropriate because the funnel data is categorical and deals with conversion proportions rather than continuous metrics.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r>
              <a:rPr dirty="0"/>
              <a:t>Statistical Interpretation</a:t>
            </a:r>
          </a:p>
        </p:txBody>
      </p:sp>
      <p:sp>
        <p:nvSpPr>
          <p:cNvPr id="3" name="Content Placeholder 2"/>
          <p:cNvSpPr>
            <a:spLocks noGrp="1"/>
          </p:cNvSpPr>
          <p:nvPr>
            <p:ph idx="1"/>
          </p:nvPr>
        </p:nvSpPr>
        <p:spPr>
          <a:xfrm>
            <a:off x="475488" y="2189649"/>
            <a:ext cx="7975180" cy="4058751"/>
          </a:xfrm>
        </p:spPr>
        <p:txBody>
          <a:bodyPr/>
          <a:lstStyle/>
          <a:p>
            <a:pPr algn="just"/>
            <a:r>
              <a:rPr lang="en-US" dirty="0"/>
              <a:t>The statistical check confirmed that the drop-offs in the funnel were large and unlikely due to chance. </a:t>
            </a:r>
          </a:p>
          <a:p>
            <a:pPr algn="just"/>
            <a:r>
              <a:rPr lang="en-US" dirty="0"/>
              <a:t>Observed conversion losses at the signup and purchase stages are statistically significant, supporting the business insight that retention and conversion require intervention. </a:t>
            </a:r>
          </a:p>
          <a:p>
            <a:pPr algn="just"/>
            <a:r>
              <a:rPr lang="en-US" dirty="0"/>
              <a:t>Cohort and segment trends further validated that high-value customers and certain signup months are critical for revenue, highlighting where business efforts should be focused.</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normAutofit fontScale="90000"/>
          </a:bodyPr>
          <a:lstStyle/>
          <a:p>
            <a:r>
              <a:rPr dirty="0"/>
              <a:t>Recommendations &amp; Call to Action</a:t>
            </a:r>
          </a:p>
        </p:txBody>
      </p:sp>
      <p:sp>
        <p:nvSpPr>
          <p:cNvPr id="3" name="Content Placeholder 2"/>
          <p:cNvSpPr>
            <a:spLocks noGrp="1"/>
          </p:cNvSpPr>
          <p:nvPr>
            <p:ph idx="1"/>
          </p:nvPr>
        </p:nvSpPr>
        <p:spPr>
          <a:xfrm>
            <a:off x="566928" y="2060441"/>
            <a:ext cx="7883740" cy="4058751"/>
          </a:xfrm>
        </p:spPr>
        <p:txBody>
          <a:bodyPr/>
          <a:lstStyle/>
          <a:p>
            <a:pPr algn="just"/>
            <a:r>
              <a:rPr lang="en-US" dirty="0"/>
              <a:t>Based on these insights, it is recommended to enhance onboarding and post-signup engagement, implement targeted retention campaigns for high-value customers, and monitor funnel KPIs continuously.</a:t>
            </a:r>
          </a:p>
          <a:p>
            <a:pPr algn="just"/>
            <a:r>
              <a:rPr lang="en-US" dirty="0"/>
              <a:t> Focusing on the highest-converting cohorts and ensuring consistent customer follow-up can improve overall conversion rates and maximize lifetime value. </a:t>
            </a:r>
          </a:p>
          <a:p>
            <a:pPr algn="just"/>
            <a:r>
              <a:rPr lang="en-US" dirty="0"/>
              <a:t>Campaign timing and segment-specific strategies should be leveraged to optimize revenue efficiently.</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r>
              <a:rPr dirty="0"/>
              <a:t>Business Conclusions</a:t>
            </a:r>
          </a:p>
        </p:txBody>
      </p:sp>
      <p:sp>
        <p:nvSpPr>
          <p:cNvPr id="3" name="Content Placeholder 2"/>
          <p:cNvSpPr>
            <a:spLocks noGrp="1"/>
          </p:cNvSpPr>
          <p:nvPr>
            <p:ph idx="1"/>
          </p:nvPr>
        </p:nvSpPr>
        <p:spPr>
          <a:xfrm>
            <a:off x="420624" y="2189649"/>
            <a:ext cx="8030044" cy="4058751"/>
          </a:xfrm>
        </p:spPr>
        <p:txBody>
          <a:bodyPr/>
          <a:lstStyle/>
          <a:p>
            <a:pPr algn="just"/>
            <a:r>
              <a:rPr lang="en-US" dirty="0"/>
              <a:t>The combined analysis demonstrates that while customer acquisition and product demand are healthy, significant funnel drop-offs and high churn present risks to revenue growth. </a:t>
            </a:r>
          </a:p>
          <a:p>
            <a:pPr algn="just"/>
            <a:r>
              <a:rPr lang="en-US" dirty="0"/>
              <a:t>Targeted interventions focusing on retention, cohort behavior, and high-value customers are necessary. </a:t>
            </a:r>
          </a:p>
          <a:p>
            <a:pPr algn="just"/>
            <a:r>
              <a:rPr lang="en-US" dirty="0"/>
              <a:t>By addressing these areas, the business can convert more users, reduce churn, and strengthen long-term revenue performance.</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D9A28-C8B2-43B9-9A08-E9EFE271B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8E1AA3-4060-6454-57B1-71699C80A868}"/>
              </a:ext>
            </a:extLst>
          </p:cNvPr>
          <p:cNvSpPr>
            <a:spLocks noGrp="1"/>
          </p:cNvSpPr>
          <p:nvPr>
            <p:ph type="title"/>
          </p:nvPr>
        </p:nvSpPr>
        <p:spPr>
          <a:xfrm>
            <a:off x="689339" y="2630556"/>
            <a:ext cx="7765322" cy="970450"/>
          </a:xfrm>
          <a:ln>
            <a:solidFill>
              <a:schemeClr val="tx1"/>
            </a:solidFill>
          </a:ln>
        </p:spPr>
        <p:txBody>
          <a:bodyPr>
            <a:normAutofit/>
          </a:bodyPr>
          <a:lstStyle/>
          <a:p>
            <a:r>
              <a:rPr lang="en-IN" dirty="0"/>
              <a:t>THANK YOU!!</a:t>
            </a:r>
            <a:endParaRPr dirty="0"/>
          </a:p>
        </p:txBody>
      </p:sp>
    </p:spTree>
    <p:extLst>
      <p:ext uri="{BB962C8B-B14F-4D97-AF65-F5344CB8AC3E}">
        <p14:creationId xmlns:p14="http://schemas.microsoft.com/office/powerpoint/2010/main" val="39478895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73</TotalTime>
  <Words>1338</Words>
  <Application>Microsoft Office PowerPoint</Application>
  <PresentationFormat>On-screen Show (4:3)</PresentationFormat>
  <Paragraphs>90</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Calisto MT</vt:lpstr>
      <vt:lpstr>Cambria Math</vt:lpstr>
      <vt:lpstr>Wingdings 2</vt:lpstr>
      <vt:lpstr>Slate</vt:lpstr>
      <vt:lpstr>Task 4:- Data Storytelling &amp; Statistical Validation</vt:lpstr>
      <vt:lpstr>Business Objective</vt:lpstr>
      <vt:lpstr>Task 1: Data Understanding &amp; Cleaning</vt:lpstr>
      <vt:lpstr>Task 1: Data Understanding &amp; Cleaning </vt:lpstr>
      <vt:lpstr>Task 1 — Hypothesis &amp; Validation (Data Quality)</vt:lpstr>
      <vt:lpstr>Task 2: Exploratory Data Analysis</vt:lpstr>
      <vt:lpstr>Task 2: Exploratory Data Analysis</vt:lpstr>
      <vt:lpstr>Task 2 — Hypothesis &amp; Validation (Revenue Drivers)</vt:lpstr>
      <vt:lpstr>Task 3: Advanced Customer Analytics</vt:lpstr>
      <vt:lpstr>Task 3: Advanced Customer Analytics</vt:lpstr>
      <vt:lpstr>Task 3: Advanced Customer Analytics</vt:lpstr>
      <vt:lpstr>Task 3 — Hypothesis &amp; Statistical Validation (Funnel Drop-Off)</vt:lpstr>
      <vt:lpstr>Statistical Test Applied</vt:lpstr>
      <vt:lpstr>Statistical Interpretation</vt:lpstr>
      <vt:lpstr>Recommendations &amp; Call to Action</vt:lpstr>
      <vt:lpstr>Business Conclusions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Pradeep Kabirdas</cp:lastModifiedBy>
  <cp:revision>2</cp:revision>
  <dcterms:created xsi:type="dcterms:W3CDTF">2013-01-27T09:14:16Z</dcterms:created>
  <dcterms:modified xsi:type="dcterms:W3CDTF">2025-12-14T17:55:26Z</dcterms:modified>
  <cp:category/>
</cp:coreProperties>
</file>